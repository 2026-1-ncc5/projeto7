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Inter" panose="020B0604020202020204" charset="0"/>
      <p:regular r:id="rId4"/>
      <p:bold r:id="rId5"/>
      <p:italic r:id="rId6"/>
      <p:boldItalic r:id="rId7"/>
    </p:embeddedFont>
    <p:embeddedFont>
      <p:font typeface="Open Sans" panose="020B0606030504020204" pitchFamily="3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iuJjNdpMpH1lT6Hn1lriWzFhra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CEA8AA-0255-4834-BA37-E974339C0ACD}" v="8" dt="2026-05-03T09:11:19.6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468" y="-5676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21" Type="http://schemas.microsoft.com/office/2015/10/relationships/revisionInfo" Target="revisionInfo.xml"/><Relationship Id="rId7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customschemas.google.com/relationships/presentationmetadata" Target="metadata"/><Relationship Id="rId10" Type="http://schemas.openxmlformats.org/officeDocument/2006/relationships/font" Target="fonts/font7.fntdata"/><Relationship Id="rId19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any Aliyah" userId="2db94a973edb59c0" providerId="LiveId" clId="{4C8F22BB-2EF7-46BA-BE2D-E27495F636DD}"/>
    <pc:docChg chg="undo custSel modSld">
      <pc:chgData name="Stephany Aliyah" userId="2db94a973edb59c0" providerId="LiveId" clId="{4C8F22BB-2EF7-46BA-BE2D-E27495F636DD}" dt="2026-05-03T09:29:39.325" v="90" actId="20577"/>
      <pc:docMkLst>
        <pc:docMk/>
      </pc:docMkLst>
      <pc:sldChg chg="modSp mod modNotes">
        <pc:chgData name="Stephany Aliyah" userId="2db94a973edb59c0" providerId="LiveId" clId="{4C8F22BB-2EF7-46BA-BE2D-E27495F636DD}" dt="2026-05-03T09:29:39.325" v="90" actId="20577"/>
        <pc:sldMkLst>
          <pc:docMk/>
          <pc:sldMk cId="0" sldId="256"/>
        </pc:sldMkLst>
        <pc:spChg chg="ord">
          <ac:chgData name="Stephany Aliyah" userId="2db94a973edb59c0" providerId="LiveId" clId="{4C8F22BB-2EF7-46BA-BE2D-E27495F636DD}" dt="2026-05-03T07:51:19.831" v="50" actId="167"/>
          <ac:spMkLst>
            <pc:docMk/>
            <pc:sldMk cId="0" sldId="256"/>
            <ac:spMk id="124" creationId="{00000000-0000-0000-0000-000000000000}"/>
          </ac:spMkLst>
        </pc:spChg>
        <pc:spChg chg="mod">
          <ac:chgData name="Stephany Aliyah" userId="2db94a973edb59c0" providerId="LiveId" clId="{4C8F22BB-2EF7-46BA-BE2D-E27495F636DD}" dt="2026-05-03T08:15:24.866" v="73" actId="1076"/>
          <ac:spMkLst>
            <pc:docMk/>
            <pc:sldMk cId="0" sldId="256"/>
            <ac:spMk id="125" creationId="{00000000-0000-0000-0000-000000000000}"/>
          </ac:spMkLst>
        </pc:spChg>
        <pc:spChg chg="mod">
          <ac:chgData name="Stephany Aliyah" userId="2db94a973edb59c0" providerId="LiveId" clId="{4C8F22BB-2EF7-46BA-BE2D-E27495F636DD}" dt="2026-05-03T08:16:22.853" v="82" actId="255"/>
          <ac:spMkLst>
            <pc:docMk/>
            <pc:sldMk cId="0" sldId="256"/>
            <ac:spMk id="126" creationId="{00000000-0000-0000-0000-000000000000}"/>
          </ac:spMkLst>
        </pc:spChg>
        <pc:spChg chg="mod">
          <ac:chgData name="Stephany Aliyah" userId="2db94a973edb59c0" providerId="LiveId" clId="{4C8F22BB-2EF7-46BA-BE2D-E27495F636DD}" dt="2026-05-03T09:29:39.325" v="90" actId="20577"/>
          <ac:spMkLst>
            <pc:docMk/>
            <pc:sldMk cId="0" sldId="256"/>
            <ac:spMk id="133" creationId="{00000000-0000-0000-0000-000000000000}"/>
          </ac:spMkLst>
        </pc:spChg>
        <pc:spChg chg="mod">
          <ac:chgData name="Stephany Aliyah" userId="2db94a973edb59c0" providerId="LiveId" clId="{4C8F22BB-2EF7-46BA-BE2D-E27495F636DD}" dt="2026-05-03T07:35:16.810" v="22" actId="20577"/>
          <ac:spMkLst>
            <pc:docMk/>
            <pc:sldMk cId="0" sldId="256"/>
            <ac:spMk id="134" creationId="{00000000-0000-0000-0000-000000000000}"/>
          </ac:spMkLst>
        </pc:spChg>
        <pc:spChg chg="mod">
          <ac:chgData name="Stephany Aliyah" userId="2db94a973edb59c0" providerId="LiveId" clId="{4C8F22BB-2EF7-46BA-BE2D-E27495F636DD}" dt="2026-05-03T09:11:23.738" v="86" actId="20577"/>
          <ac:spMkLst>
            <pc:docMk/>
            <pc:sldMk cId="0" sldId="256"/>
            <ac:spMk id="135" creationId="{00000000-0000-0000-0000-000000000000}"/>
          </ac:spMkLst>
        </pc:spChg>
        <pc:spChg chg="mod">
          <ac:chgData name="Stephany Aliyah" userId="2db94a973edb59c0" providerId="LiveId" clId="{4C8F22BB-2EF7-46BA-BE2D-E27495F636DD}" dt="2026-05-03T07:35:18.403" v="23" actId="20577"/>
          <ac:spMkLst>
            <pc:docMk/>
            <pc:sldMk cId="0" sldId="256"/>
            <ac:spMk id="137" creationId="{00000000-0000-0000-0000-000000000000}"/>
          </ac:spMkLst>
        </pc:spChg>
        <pc:spChg chg="mod">
          <ac:chgData name="Stephany Aliyah" userId="2db94a973edb59c0" providerId="LiveId" clId="{4C8F22BB-2EF7-46BA-BE2D-E27495F636DD}" dt="2026-05-03T07:35:58.916" v="32" actId="20577"/>
          <ac:spMkLst>
            <pc:docMk/>
            <pc:sldMk cId="0" sldId="256"/>
            <ac:spMk id="138" creationId="{00000000-0000-0000-0000-000000000000}"/>
          </ac:spMkLst>
        </pc:spChg>
        <pc:spChg chg="mod">
          <ac:chgData name="Stephany Aliyah" userId="2db94a973edb59c0" providerId="LiveId" clId="{4C8F22BB-2EF7-46BA-BE2D-E27495F636DD}" dt="2026-05-03T08:16:16.760" v="81" actId="1076"/>
          <ac:spMkLst>
            <pc:docMk/>
            <pc:sldMk cId="0" sldId="256"/>
            <ac:spMk id="13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brasil.un.org/" TargetMode="External"/><Relationship Id="rId13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hyperlink" Target="https://liderancasempaticas.com/?utm_source=chatgpt.com" TargetMode="External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image" Target="../media/image3.png"/><Relationship Id="rId15" Type="http://schemas.openxmlformats.org/officeDocument/2006/relationships/image" Target="../media/image11.jp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47183" y="36357085"/>
            <a:ext cx="29324884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50775" y="34913745"/>
            <a:ext cx="22761119" cy="14305961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endParaRPr sz="67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47183" y="28884414"/>
            <a:ext cx="29303969" cy="9759750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47182" y="21094341"/>
            <a:ext cx="29324751" cy="9460534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47183" y="15645423"/>
            <a:ext cx="29303962" cy="8372957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47182" y="6900197"/>
            <a:ext cx="29303943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47182" y="-489831"/>
            <a:ext cx="29324728" cy="9050023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071932" y="13268505"/>
            <a:ext cx="20464108" cy="13034121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14718" y="30095267"/>
            <a:ext cx="13848535" cy="9234977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390844" y="30222580"/>
            <a:ext cx="12527629" cy="8126059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endParaRPr sz="6769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endParaRPr sz="6769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82" y="72290"/>
              <a:ext cx="6635700" cy="5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62"/>
                <a:buFont typeface="Arial"/>
                <a:buNone/>
              </a:pPr>
              <a:r>
                <a:rPr lang="en-US" sz="4762" b="1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29005" y="1609403"/>
            <a:ext cx="8568160" cy="2453356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endParaRPr sz="67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50775" y="-4913410"/>
            <a:ext cx="22761119" cy="14305961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endParaRPr sz="67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01844" y="1796067"/>
            <a:ext cx="7225835" cy="2334237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endParaRPr sz="67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5419596" y="12183927"/>
            <a:ext cx="49899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7"/>
              <a:buFont typeface="Arial"/>
              <a:buNone/>
            </a:pPr>
            <a:r>
              <a:rPr lang="en-US" sz="5077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"/>
          <p:cNvGrpSpPr/>
          <p:nvPr/>
        </p:nvGrpSpPr>
        <p:grpSpPr>
          <a:xfrm rot="-5400000">
            <a:off x="2482139" y="7561222"/>
            <a:ext cx="10206808" cy="14355435"/>
            <a:chOff x="0" y="-47625"/>
            <a:chExt cx="958980" cy="1348764"/>
          </a:xfrm>
        </p:grpSpPr>
        <p:sp>
          <p:nvSpPr>
            <p:cNvPr id="119" name="Google Shape;119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"/>
          <p:cNvGrpSpPr/>
          <p:nvPr/>
        </p:nvGrpSpPr>
        <p:grpSpPr>
          <a:xfrm rot="-5400000">
            <a:off x="2603541" y="17889433"/>
            <a:ext cx="9964000" cy="14355435"/>
            <a:chOff x="0" y="-47625"/>
            <a:chExt cx="936167" cy="1348764"/>
          </a:xfrm>
        </p:grpSpPr>
        <p:sp>
          <p:nvSpPr>
            <p:cNvPr id="122" name="Google Shape;122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"/>
          <p:cNvSpPr/>
          <p:nvPr/>
        </p:nvSpPr>
        <p:spPr>
          <a:xfrm>
            <a:off x="22514789" y="36885489"/>
            <a:ext cx="5607114" cy="564029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endParaRPr sz="67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-161130" y="4535664"/>
            <a:ext cx="28813800" cy="17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4"/>
              <a:buFont typeface="Arial"/>
              <a:buNone/>
            </a:pPr>
            <a:r>
              <a:rPr lang="en-US" sz="11434" b="1" dirty="0" err="1">
                <a:latin typeface="Open Sans"/>
                <a:ea typeface="Open Sans"/>
                <a:cs typeface="Open Sans"/>
                <a:sym typeface="Open Sans"/>
              </a:rPr>
              <a:t>EmpathTech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-273963" y="6311292"/>
            <a:ext cx="293040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lang="en-US" sz="4800" b="1" dirty="0">
                <a:latin typeface="Open Sans"/>
                <a:ea typeface="Open Sans"/>
                <a:cs typeface="Open Sans"/>
                <a:sym typeface="Open Sans"/>
              </a:rPr>
              <a:t>Carlos Roberto, Felipe Santos Ojo, Felipe Wakasa e Stephany Aliyah</a:t>
            </a:r>
          </a:p>
        </p:txBody>
      </p:sp>
      <p:sp>
        <p:nvSpPr>
          <p:cNvPr id="127" name="Google Shape;127;p1"/>
          <p:cNvSpPr txBox="1"/>
          <p:nvPr/>
        </p:nvSpPr>
        <p:spPr>
          <a:xfrm>
            <a:off x="15652363" y="16155763"/>
            <a:ext cx="11810100" cy="1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00">
                <a:latin typeface="Inter"/>
                <a:ea typeface="Inter"/>
                <a:cs typeface="Inter"/>
                <a:sym typeface="Inter"/>
              </a:rPr>
              <a:t>Figura 01: Interface do Painel Administrativo com Métricas de Arrecadação 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15438068" y="23983629"/>
            <a:ext cx="12433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00">
                <a:latin typeface="Inter"/>
                <a:ea typeface="Inter"/>
                <a:cs typeface="Inter"/>
                <a:sym typeface="Inter"/>
              </a:rPr>
              <a:t>Fonte: Autoria Própria (2026) 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2548985" y="30912417"/>
            <a:ext cx="10186500" cy="7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lang="en-US" sz="4762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16595893" y="9942145"/>
            <a:ext cx="10186500" cy="7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lang="en-US" sz="4762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2631841" y="9942145"/>
            <a:ext cx="10186500" cy="7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lang="en-US" sz="4762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2745792" y="20386889"/>
            <a:ext cx="10186500" cy="7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lang="en-US" sz="4762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15580734" y="31360835"/>
            <a:ext cx="12215700" cy="652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pt-BR" sz="235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LIDERANÇAS EMPÁTICAS.</a:t>
            </a:r>
            <a:r>
              <a:rPr lang="pt-BR" sz="23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Institucional e impacto social. [S. l.], 2026. Disponível em:</a:t>
            </a:r>
            <a:r>
              <a:rPr lang="pt-BR" sz="23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7"/>
              </a:rPr>
              <a:t> </a:t>
            </a:r>
            <a:r>
              <a:rPr lang="pt-BR" sz="2350" u="sn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7"/>
              </a:rPr>
              <a:t>https://liderancasempaticas.com/</a:t>
            </a:r>
            <a:r>
              <a:rPr lang="pt-BR" sz="23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Acesso em: 3 maio 2026.</a:t>
            </a:r>
          </a:p>
          <a:p>
            <a:endParaRPr lang="pt-BR" sz="23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pt-BR" sz="235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REDMON, J. et al.</a:t>
            </a:r>
            <a:r>
              <a:rPr lang="pt-BR" sz="23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3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</a:t>
            </a:r>
            <a:r>
              <a:rPr lang="pt-BR" sz="23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3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only</a:t>
            </a:r>
            <a:r>
              <a:rPr lang="pt-BR" sz="23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look </a:t>
            </a:r>
            <a:r>
              <a:rPr lang="pt-BR" sz="23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once</a:t>
            </a:r>
            <a:r>
              <a:rPr lang="pt-BR" sz="23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pt-BR" sz="23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unified</a:t>
            </a:r>
            <a:r>
              <a:rPr lang="pt-BR" sz="23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real-time </a:t>
            </a:r>
            <a:r>
              <a:rPr lang="pt-BR" sz="23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object</a:t>
            </a:r>
            <a:r>
              <a:rPr lang="pt-BR" sz="23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3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detection</a:t>
            </a:r>
            <a:r>
              <a:rPr lang="pt-BR" sz="23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In: </a:t>
            </a:r>
            <a:r>
              <a:rPr lang="pt-BR" sz="235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IEEE </a:t>
            </a:r>
            <a:r>
              <a:rPr lang="pt-BR" sz="235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Conference</a:t>
            </a:r>
            <a:r>
              <a:rPr lang="pt-BR" sz="235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35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</a:t>
            </a:r>
            <a:r>
              <a:rPr lang="pt-BR" sz="235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Computer Vision </a:t>
            </a:r>
            <a:r>
              <a:rPr lang="pt-BR" sz="235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</a:t>
            </a:r>
            <a:r>
              <a:rPr lang="pt-BR" sz="235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35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Pattern</a:t>
            </a:r>
            <a:r>
              <a:rPr lang="pt-BR" sz="235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35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Recognition</a:t>
            </a:r>
            <a:r>
              <a:rPr lang="pt-BR" sz="235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(CVPR)</a:t>
            </a:r>
            <a:r>
              <a:rPr lang="pt-BR" sz="23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2016, </a:t>
            </a:r>
            <a:r>
              <a:rPr lang="pt-BR" sz="23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Las</a:t>
            </a:r>
            <a:r>
              <a:rPr lang="pt-BR" sz="23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Vegas. </a:t>
            </a:r>
            <a:r>
              <a:rPr lang="pt-BR" sz="235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Anais [...]</a:t>
            </a:r>
            <a:r>
              <a:rPr lang="pt-BR" sz="23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pt-BR" sz="23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Las</a:t>
            </a:r>
            <a:r>
              <a:rPr lang="pt-BR" sz="23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Vegas: IEEE, 2016. p. 779-788. DOI: 10.1109/CVPR.2016.91.</a:t>
            </a:r>
          </a:p>
          <a:p>
            <a:endParaRPr lang="pt-BR" sz="23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pt-BR" sz="235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GOODFELLOW, I.; BENGIO, Y.; COURVILLE, A.</a:t>
            </a:r>
            <a:r>
              <a:rPr lang="pt-BR" sz="23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35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Deep</a:t>
            </a:r>
            <a:r>
              <a:rPr lang="pt-BR" sz="235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learning</a:t>
            </a:r>
            <a:r>
              <a:rPr lang="pt-BR" sz="23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Cambridge: MIT Press, 2016.</a:t>
            </a:r>
          </a:p>
          <a:p>
            <a:endParaRPr lang="pt-BR" sz="23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pt-BR" sz="235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COSTA, A. B. (org.).</a:t>
            </a:r>
            <a:r>
              <a:rPr lang="pt-BR" sz="23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35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Tecnologia social e políticas públicas</a:t>
            </a:r>
            <a:r>
              <a:rPr lang="pt-BR" sz="23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São Paulo: Instituto Pólis; Brasília: Fundação Banco do Brasil, 2013.</a:t>
            </a:r>
          </a:p>
          <a:p>
            <a:endParaRPr lang="pt-BR" sz="23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pt-BR" sz="235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ONU BRASIL.</a:t>
            </a:r>
            <a:r>
              <a:rPr lang="pt-BR" sz="23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Objetivo de Desenvolvimento Sustentável 2: fome zero e agricultura sustentável. Brasília: ONU Brasil, 2023. Disponível em:</a:t>
            </a:r>
            <a:r>
              <a:rPr lang="pt-BR" sz="23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8"/>
              </a:rPr>
              <a:t> </a:t>
            </a:r>
            <a:r>
              <a:rPr lang="pt-BR" sz="2350" u="sn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8"/>
              </a:rPr>
              <a:t>https://brasil.un.org/</a:t>
            </a:r>
            <a:r>
              <a:rPr lang="pt-BR" sz="23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Acesso em: 3 maio 2026.</a:t>
            </a:r>
          </a:p>
          <a:p>
            <a:br>
              <a:rPr lang="pt-BR" sz="2400" dirty="0"/>
            </a:br>
            <a:endParaRPr sz="24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1382800" y="10833225"/>
            <a:ext cx="12763500" cy="9522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   O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projeto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EmpathTech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visa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otimizar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as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arrecadações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da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instituição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Lideranças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Empáticas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onde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triagem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manual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gera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erros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contagem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lentidão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logística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e dados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pouco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confiáveis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. Esse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cenário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prejudica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gestão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das equipes e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impossibilita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acompanhamento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do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impacto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social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tempo real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durante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evento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3400" dirty="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 A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falta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processos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automatizados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compromete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integridade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das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informações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e a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transparência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do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inventário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arrecadado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Além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disso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, o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potencial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dos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voluntários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é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subutilizado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tarefas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manuais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repetitivas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dificultando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foco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no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desenvolvimento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liderança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nas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estratégias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sociais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 do </a:t>
            </a:r>
            <a:r>
              <a:rPr lang="en-US" sz="3400" dirty="0" err="1">
                <a:latin typeface="Open Sans"/>
                <a:ea typeface="Open Sans"/>
                <a:cs typeface="Open Sans"/>
                <a:sym typeface="Open Sans"/>
              </a:rPr>
              <a:t>projeto</a:t>
            </a:r>
            <a:r>
              <a:rPr lang="en-US" sz="3400" dirty="0">
                <a:latin typeface="Open Sans"/>
                <a:ea typeface="Open Sans"/>
                <a:cs typeface="Open Sans"/>
                <a:sym typeface="Open Sans"/>
              </a:rPr>
              <a:t>. </a:t>
            </a:r>
            <a:endParaRPr sz="3400" dirty="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endParaRPr sz="34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1307200" y="21138625"/>
            <a:ext cx="13214700" cy="7820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300" dirty="0">
                <a:latin typeface="Open Sans"/>
                <a:ea typeface="Open Sans"/>
                <a:cs typeface="Open Sans"/>
                <a:sym typeface="Open Sans"/>
              </a:rPr>
              <a:t>     </a:t>
            </a:r>
            <a:r>
              <a:rPr lang="pt-BR" sz="3300" dirty="0">
                <a:latin typeface="Open Sans"/>
                <a:ea typeface="Open Sans"/>
                <a:cs typeface="Open Sans"/>
                <a:sym typeface="Open Sans"/>
              </a:rPr>
              <a:t> A solução desenvolvida pela </a:t>
            </a:r>
            <a:r>
              <a:rPr lang="pt-BR" sz="3300" dirty="0" err="1">
                <a:latin typeface="Open Sans"/>
                <a:ea typeface="Open Sans"/>
                <a:cs typeface="Open Sans"/>
                <a:sym typeface="Open Sans"/>
              </a:rPr>
              <a:t>EmpathTech</a:t>
            </a:r>
            <a:r>
              <a:rPr lang="pt-BR" sz="3300" dirty="0">
                <a:latin typeface="Open Sans"/>
                <a:ea typeface="Open Sans"/>
                <a:cs typeface="Open Sans"/>
                <a:sym typeface="Open Sans"/>
              </a:rPr>
              <a:t> integra hardware e software para automatizar a recepção de donativos através de uma rampa de triagem equipada com câmera. O sistema captura o fluxo de entrada e utiliza algoritmos de detecção para classificar os alimentos em categorias (como arroz e feijão) em tempo real, aplicando uma lógica de rastreamento que evita a duplicidade na contagem.  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pt-BR" sz="3300" dirty="0">
                <a:latin typeface="Open Sans"/>
                <a:ea typeface="Open Sans"/>
                <a:cs typeface="Open Sans"/>
                <a:sym typeface="Open Sans"/>
              </a:rPr>
              <a:t>   Simultaneamente, o software registra métricas detalhadas por equipe e armazena os dados em nuvem, permitindo que a coordenação acompanhe o progresso das metas de forma estratégica, organizada e segura.</a:t>
            </a:r>
            <a:endParaRPr sz="33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24470" y="3976588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lang="en-US" sz="4955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IV SEMANA FECAP DE TECNOLOGIA - 2026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lang="en-US" sz="4955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605363" y="10964675"/>
            <a:ext cx="11904300" cy="5172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   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implementação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deste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sistema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visa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elevar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o patamar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eficiência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das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campanhas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sociais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transformando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triagem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uma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operação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baseada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dados reais 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confiança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absoluta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3430" dirty="0"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446405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30"/>
              <a:buFont typeface="Open Sans"/>
              <a:buChar char="●"/>
            </a:pP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Agilidade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Precisão</a:t>
            </a:r>
            <a:endParaRPr sz="3430" dirty="0"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446405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30"/>
              <a:buFont typeface="Open Sans"/>
              <a:buChar char="●"/>
            </a:pP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Gestão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Tempo Real</a:t>
            </a:r>
            <a:endParaRPr sz="3430" dirty="0"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446405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30"/>
              <a:buFont typeface="Open Sans"/>
              <a:buChar char="●"/>
            </a:pP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Transparência</a:t>
            </a:r>
            <a:endParaRPr sz="343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5605362" y="24942468"/>
            <a:ext cx="11904301" cy="59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pt-BR" sz="3300" dirty="0">
                <a:latin typeface="Open Sans"/>
                <a:ea typeface="Open Sans"/>
                <a:cs typeface="Open Sans"/>
                <a:sym typeface="Open Sans"/>
              </a:rPr>
              <a:t>      A automação, em princípio, não só libera a equipe de tarefas repetitivas, como também se estabelece como uma ferramenta gerencial robusta para a coordenação. Além de solucionar os atuais gargalos, a lógica implementada demonstra grande potencial de adaptação a outros cenários, abrangendo desde o controle de estoque até a logística de grandes centros de doações.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endParaRPr sz="343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"/>
          <p:cNvSpPr txBox="1"/>
          <p:nvPr/>
        </p:nvSpPr>
        <p:spPr>
          <a:xfrm flipH="1">
            <a:off x="737440" y="7374150"/>
            <a:ext cx="29686588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4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Orientadores: </a:t>
            </a:r>
            <a:r>
              <a:rPr lang="pt-BR" sz="4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Marcos Minoru, Rafael Rossetti, Rodrigo da Rosa, </a:t>
            </a:r>
            <a:r>
              <a:rPr lang="pt-BR" sz="4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Rodnil</a:t>
            </a:r>
            <a:r>
              <a:rPr lang="pt-BR" sz="4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Lisboa, Victor </a:t>
            </a:r>
            <a:r>
              <a:rPr lang="pt-BR" sz="4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Quiroz</a:t>
            </a:r>
            <a:endParaRPr lang="pt-BR" sz="4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40" name="Google Shape;140;p1" title="React-icon.svg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82800" y="32717300"/>
            <a:ext cx="2755630" cy="2454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" title="Python-Emblem.png"/>
          <p:cNvPicPr preferRelativeResize="0"/>
          <p:nvPr/>
        </p:nvPicPr>
        <p:blipFill rotWithShape="1">
          <a:blip r:embed="rId10">
            <a:alphaModFix/>
          </a:blip>
          <a:srcRect l="14177" r="14618"/>
          <a:stretch/>
        </p:blipFill>
        <p:spPr>
          <a:xfrm>
            <a:off x="4254975" y="32617325"/>
            <a:ext cx="3328573" cy="262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" title="JavaScript-Symbol.png"/>
          <p:cNvPicPr preferRelativeResize="0"/>
          <p:nvPr/>
        </p:nvPicPr>
        <p:blipFill rotWithShape="1">
          <a:blip r:embed="rId11">
            <a:alphaModFix/>
          </a:blip>
          <a:srcRect l="18865" r="19725"/>
          <a:stretch/>
        </p:blipFill>
        <p:spPr>
          <a:xfrm>
            <a:off x="7700088" y="32377725"/>
            <a:ext cx="3148861" cy="2884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" title="PostgreSQL - Logo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272162" y="32629687"/>
            <a:ext cx="2874050" cy="26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" title="amazon-rds-logo.png"/>
          <p:cNvPicPr preferRelativeResize="0"/>
          <p:nvPr/>
        </p:nvPicPr>
        <p:blipFill rotWithShape="1">
          <a:blip r:embed="rId13">
            <a:alphaModFix/>
          </a:blip>
          <a:srcRect l="13651" t="13346" r="9703" b="12918"/>
          <a:stretch/>
        </p:blipFill>
        <p:spPr>
          <a:xfrm>
            <a:off x="11848588" y="35806713"/>
            <a:ext cx="2551025" cy="245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" title="Node.js_logo.svg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266235" y="36218775"/>
            <a:ext cx="2988752" cy="183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" title="IMG-20260501-WA0008.jpg"/>
          <p:cNvPicPr preferRelativeResize="0"/>
          <p:nvPr/>
        </p:nvPicPr>
        <p:blipFill rotWithShape="1">
          <a:blip r:embed="rId15">
            <a:alphaModFix/>
          </a:blip>
          <a:srcRect r="2220"/>
          <a:stretch/>
        </p:blipFill>
        <p:spPr>
          <a:xfrm>
            <a:off x="15863150" y="17815050"/>
            <a:ext cx="11652000" cy="58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" title="png-clipart-yolo-png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712188" y="36196863"/>
            <a:ext cx="3148850" cy="167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" title="LabelStudio - Logo.png"/>
          <p:cNvPicPr preferRelativeResize="0"/>
          <p:nvPr/>
        </p:nvPicPr>
        <p:blipFill rotWithShape="1">
          <a:blip r:embed="rId17">
            <a:alphaModFix/>
          </a:blip>
          <a:srcRect l="27749" t="31909" r="6136" b="45945"/>
          <a:stretch/>
        </p:blipFill>
        <p:spPr>
          <a:xfrm>
            <a:off x="4280838" y="36644163"/>
            <a:ext cx="4431352" cy="77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549</Words>
  <Application>Microsoft Office PowerPoint</Application>
  <PresentationFormat>Personalizar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Open Sans</vt:lpstr>
      <vt:lpstr>Calibri</vt:lpstr>
      <vt:lpstr>Inter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Stephany Aliyah</cp:lastModifiedBy>
  <cp:revision>1</cp:revision>
  <cp:lastPrinted>2026-05-03T08:31:11Z</cp:lastPrinted>
  <dcterms:created xsi:type="dcterms:W3CDTF">2006-08-16T00:00:00Z</dcterms:created>
  <dcterms:modified xsi:type="dcterms:W3CDTF">2026-05-03T09:29:48Z</dcterms:modified>
</cp:coreProperties>
</file>