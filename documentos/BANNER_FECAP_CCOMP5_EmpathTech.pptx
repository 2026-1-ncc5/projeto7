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Inter" panose="020B0604020202020204" charset="0"/>
      <p:regular r:id="rId4"/>
      <p:bold r:id="rId5"/>
      <p:italic r:id="rId6"/>
      <p:boldItalic r:id="rId7"/>
    </p:embeddedFont>
    <p:embeddedFont>
      <p:font typeface="Open Sans" panose="020B0606030504020204" pitchFamily="34" charset="0"/>
      <p:regular r:id="rId8"/>
      <p:bold r:id="rId9"/>
      <p:italic r:id="rId10"/>
      <p:boldItalic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5" roundtripDataSignature="AMtx7mhnP6znlunIEjbkDwu1gysQAL84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468" y="-204"/>
      </p:cViewPr>
      <p:guideLst>
        <p:guide orient="horz" pos="4366"/>
        <p:guide pos="54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customschemas.google.com/relationships/presentationmetadata" Target="metadata"/><Relationship Id="rId10" Type="http://schemas.openxmlformats.org/officeDocument/2006/relationships/font" Target="fonts/font7.fntdata"/><Relationship Id="rId19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font" Target="fonts/font6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any Aliyah" userId="2db94a973edb59c0" providerId="LiveId" clId="{4C8F22BB-2EF7-46BA-BE2D-E27495F636DD}"/>
    <pc:docChg chg="modSld">
      <pc:chgData name="Stephany Aliyah" userId="2db94a973edb59c0" providerId="LiveId" clId="{4C8F22BB-2EF7-46BA-BE2D-E27495F636DD}" dt="2026-05-03T21:25:28.605" v="2" actId="20577"/>
      <pc:docMkLst>
        <pc:docMk/>
      </pc:docMkLst>
      <pc:sldChg chg="modSp mod">
        <pc:chgData name="Stephany Aliyah" userId="2db94a973edb59c0" providerId="LiveId" clId="{4C8F22BB-2EF7-46BA-BE2D-E27495F636DD}" dt="2026-05-03T21:25:28.605" v="2" actId="20577"/>
        <pc:sldMkLst>
          <pc:docMk/>
          <pc:sldMk cId="0" sldId="256"/>
        </pc:sldMkLst>
        <pc:spChg chg="mod">
          <ac:chgData name="Stephany Aliyah" userId="2db94a973edb59c0" providerId="LiveId" clId="{4C8F22BB-2EF7-46BA-BE2D-E27495F636DD}" dt="2026-05-03T21:25:28.605" v="2" actId="20577"/>
          <ac:spMkLst>
            <pc:docMk/>
            <pc:sldMk cId="0" sldId="256"/>
            <ac:spMk id="12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brasil.un.org/" TargetMode="External"/><Relationship Id="rId13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hyperlink" Target="https://liderancasempaticas.com/?utm_source=chatgpt.com" TargetMode="External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1.pn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jpg"/><Relationship Id="rId1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47183" y="36357085"/>
            <a:ext cx="29324884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50775" y="34913745"/>
            <a:ext cx="22761119" cy="14305961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47183" y="28884414"/>
            <a:ext cx="29303969" cy="9759750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47182" y="21094341"/>
            <a:ext cx="29324751" cy="9460534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47183" y="15645423"/>
            <a:ext cx="29303962" cy="8372957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47182" y="6900197"/>
            <a:ext cx="29303943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47182" y="-489831"/>
            <a:ext cx="29324728" cy="9050023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71932" y="13268505"/>
            <a:ext cx="20464108" cy="13034121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14718" y="30095267"/>
            <a:ext cx="13848535" cy="9234977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390844" y="30222580"/>
            <a:ext cx="12527629" cy="812605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82" y="72290"/>
              <a:ext cx="6635700" cy="51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lang="en-US" sz="4762" b="1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29005" y="1609403"/>
            <a:ext cx="8568160" cy="2453356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50775" y="-4913410"/>
            <a:ext cx="22761119" cy="14305961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01844" y="1796067"/>
            <a:ext cx="7225835" cy="2334237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"/>
          <p:cNvSpPr txBox="1"/>
          <p:nvPr/>
        </p:nvSpPr>
        <p:spPr>
          <a:xfrm>
            <a:off x="5419596" y="12183927"/>
            <a:ext cx="4989900" cy="7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lang="en-US" sz="5077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"/>
          <p:cNvGrpSpPr/>
          <p:nvPr/>
        </p:nvGrpSpPr>
        <p:grpSpPr>
          <a:xfrm rot="-5400000">
            <a:off x="2482139" y="7561222"/>
            <a:ext cx="10206808" cy="14355435"/>
            <a:chOff x="0" y="-47625"/>
            <a:chExt cx="958980" cy="1348764"/>
          </a:xfrm>
        </p:grpSpPr>
        <p:sp>
          <p:nvSpPr>
            <p:cNvPr id="119" name="Google Shape;119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"/>
          <p:cNvGrpSpPr/>
          <p:nvPr/>
        </p:nvGrpSpPr>
        <p:grpSpPr>
          <a:xfrm rot="-5400000">
            <a:off x="2603541" y="17889433"/>
            <a:ext cx="9964000" cy="14355435"/>
            <a:chOff x="0" y="-47625"/>
            <a:chExt cx="936167" cy="1348764"/>
          </a:xfrm>
        </p:grpSpPr>
        <p:sp>
          <p:nvSpPr>
            <p:cNvPr id="122" name="Google Shape;122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1"/>
          <p:cNvSpPr/>
          <p:nvPr/>
        </p:nvSpPr>
        <p:spPr>
          <a:xfrm>
            <a:off x="22514789" y="36885489"/>
            <a:ext cx="5607114" cy="564029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"/>
          <p:cNvSpPr txBox="1"/>
          <p:nvPr/>
        </p:nvSpPr>
        <p:spPr>
          <a:xfrm>
            <a:off x="8361" y="4387542"/>
            <a:ext cx="28813800" cy="17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34"/>
              <a:buFont typeface="Arial"/>
              <a:buNone/>
            </a:pPr>
            <a:r>
              <a:rPr lang="en-US" sz="11434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EmpathTech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-406213" y="6472450"/>
            <a:ext cx="293040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800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Carlos Roberto, Felipe Santos Ojo, Felipe Wakasa, Stephany Aliyah</a:t>
            </a:r>
            <a:endParaRPr sz="48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7" name="Google Shape;127;p1"/>
          <p:cNvSpPr txBox="1"/>
          <p:nvPr/>
        </p:nvSpPr>
        <p:spPr>
          <a:xfrm>
            <a:off x="15652363" y="16155763"/>
            <a:ext cx="11810100" cy="1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Figura 01: Interface do Painel Administrativo com Métricas de Arrecadação </a:t>
            </a:r>
            <a:endParaRPr sz="3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15438068" y="23983629"/>
            <a:ext cx="12433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Autoria Própria (2026) </a:t>
            </a:r>
            <a:endParaRPr sz="3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"/>
          <p:cNvSpPr txBox="1"/>
          <p:nvPr/>
        </p:nvSpPr>
        <p:spPr>
          <a:xfrm>
            <a:off x="2631860" y="30831642"/>
            <a:ext cx="101865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"/>
          <p:cNvSpPr txBox="1"/>
          <p:nvPr/>
        </p:nvSpPr>
        <p:spPr>
          <a:xfrm>
            <a:off x="16595893" y="9942145"/>
            <a:ext cx="101865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"/>
          <p:cNvSpPr txBox="1"/>
          <p:nvPr/>
        </p:nvSpPr>
        <p:spPr>
          <a:xfrm>
            <a:off x="2631841" y="9942145"/>
            <a:ext cx="101865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"/>
          <p:cNvSpPr txBox="1"/>
          <p:nvPr/>
        </p:nvSpPr>
        <p:spPr>
          <a:xfrm>
            <a:off x="2745792" y="20386889"/>
            <a:ext cx="101865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"/>
          <p:cNvSpPr txBox="1"/>
          <p:nvPr/>
        </p:nvSpPr>
        <p:spPr>
          <a:xfrm>
            <a:off x="15581300" y="31588175"/>
            <a:ext cx="12215700" cy="69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LIDERANÇAS EMPÁTICAS.</a:t>
            </a:r>
            <a:r>
              <a:rPr lang="en-US" sz="2400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 Institucional e impacto social. [S. l.], 2026. Disponível em:</a:t>
            </a:r>
            <a:r>
              <a:rPr lang="en-US" sz="2400" i="0" u="none" strike="noStrike" cap="none">
                <a:solidFill>
                  <a:srgbClr val="1F1F1F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2400" i="0" u="sng" strike="noStrike" cap="none">
                <a:solidFill>
                  <a:srgbClr val="1155CC"/>
                </a:solidFill>
                <a:latin typeface="Open Sans"/>
                <a:ea typeface="Open Sans"/>
                <a:cs typeface="Open Sans"/>
                <a:sym typeface="Open Sans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https://liderancasempaticas.com/</a:t>
            </a:r>
            <a:r>
              <a:rPr lang="en-US" sz="2400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. Acesso em: 3 maio 2026.</a:t>
            </a:r>
            <a:endParaRPr sz="2400" i="0" u="none" strike="noStrike" cap="none">
              <a:solidFill>
                <a:srgbClr val="1F1F1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REDMON, J. et al.</a:t>
            </a:r>
            <a:r>
              <a:rPr lang="en-US" sz="2400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 You only look once: unified, real-time object detection. In: </a:t>
            </a:r>
            <a:r>
              <a:rPr lang="en-US" sz="2400" b="1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IEEE Conference on Computer Vision and Pattern Recognition (CVPR)</a:t>
            </a:r>
            <a:r>
              <a:rPr lang="en-US" sz="2400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, 2016, Las Vegas. </a:t>
            </a:r>
            <a:r>
              <a:rPr lang="en-US" sz="2400" i="1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Anais [...]</a:t>
            </a:r>
            <a:r>
              <a:rPr lang="en-US" sz="2400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. Las Vegas: IEEE, 2016. p. 779-788. DOI: 10.1109/CVPR.2016.91.</a:t>
            </a:r>
            <a:endParaRPr sz="2400" i="0" u="none" strike="noStrike" cap="none">
              <a:solidFill>
                <a:srgbClr val="1F1F1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GOODFELLOW, I.; BENGIO, Y.; COURVILLE, A.</a:t>
            </a:r>
            <a:r>
              <a:rPr lang="en-US" sz="2400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400" i="1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Deep learning</a:t>
            </a:r>
            <a:r>
              <a:rPr lang="en-US" sz="2400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. Cambridge: MIT Press, 2016.</a:t>
            </a:r>
            <a:endParaRPr sz="2400" i="0" u="none" strike="noStrike" cap="none">
              <a:solidFill>
                <a:srgbClr val="1F1F1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COSTA, A. B. (org.).</a:t>
            </a:r>
            <a:r>
              <a:rPr lang="en-US" sz="2400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400" i="1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Tecnologia social e políticas públicas</a:t>
            </a:r>
            <a:r>
              <a:rPr lang="en-US" sz="2400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. São Paulo: Instituto Pólis; Brasília: Fundação Banco do Brasil, 2013.</a:t>
            </a:r>
            <a:endParaRPr sz="2400" i="0" u="none" strike="noStrike" cap="none">
              <a:solidFill>
                <a:srgbClr val="1F1F1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ONU BRASIL.</a:t>
            </a:r>
            <a:r>
              <a:rPr lang="en-US" sz="2400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 Objetivo de Desenvolvimento Sustentável 2: fome zero e agricultura sustentável. Brasília: ONU Brasil, 2023. Disponível em:</a:t>
            </a:r>
            <a:r>
              <a:rPr lang="en-US" sz="2400" i="0" u="none" strike="noStrike" cap="none">
                <a:solidFill>
                  <a:srgbClr val="1F1F1F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2400" i="0" u="sng" strike="noStrike" cap="none">
                <a:solidFill>
                  <a:srgbClr val="1155CC"/>
                </a:solidFill>
                <a:latin typeface="Open Sans"/>
                <a:ea typeface="Open Sans"/>
                <a:cs typeface="Open Sans"/>
                <a:sym typeface="Open Sans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https://brasil.un.org/</a:t>
            </a:r>
            <a:r>
              <a:rPr lang="en-US" sz="2400" i="0" u="none" strike="noStrike" cap="non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. Acesso em: 3 maio 2026.</a:t>
            </a:r>
            <a:endParaRPr sz="2400" i="0" u="none" strike="noStrike" cap="none">
              <a:solidFill>
                <a:srgbClr val="1F1F1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4" name="Google Shape;134;p1"/>
          <p:cNvSpPr txBox="1"/>
          <p:nvPr/>
        </p:nvSpPr>
        <p:spPr>
          <a:xfrm>
            <a:off x="1382800" y="10833225"/>
            <a:ext cx="12763500" cy="9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  O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projeto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EmpathTech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visa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otimizar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as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arrecadações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instituição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Lideranças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Empáticas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onde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triagem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manual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gera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erros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contagem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lentidão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logística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dados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pouco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confiáveis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Esse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cenário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prejudica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gestão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das equipes e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impossibilita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acompanhamento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impacto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social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tempo real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durante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evento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340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 A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falta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processos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automatizados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compromete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integridade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das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informações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a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transparência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inventário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arrecadado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Além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disso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o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potencial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dos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voluntários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é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subutilizado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tarefas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manuais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repetitivas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dificultando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foco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no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desenvolvimento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liderança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nas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estratégias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sociais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34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projeto</a:t>
            </a:r>
            <a:r>
              <a:rPr lang="en-US" sz="3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</a:t>
            </a:r>
            <a:endParaRPr sz="340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0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1"/>
          <p:cNvSpPr txBox="1"/>
          <p:nvPr/>
        </p:nvSpPr>
        <p:spPr>
          <a:xfrm>
            <a:off x="1307200" y="21138625"/>
            <a:ext cx="13214700" cy="853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    A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solução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desenvolvida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pela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EmpathTech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integra hardware e software para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automatizar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recepção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donativos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pt-BR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por meio de uma rampa de triagem equipada com câmera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O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sistema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captura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fluxo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de entrada e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utiliza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algoritmos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detecção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classificar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os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alimentos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categorias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como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arroz e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feijão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)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tempo real,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aplicando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uma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lógica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rastreamento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que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evita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duplicidade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contagem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 </a:t>
            </a:r>
            <a:endParaRPr sz="330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Simultaneamente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o software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registra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métricas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detalhadas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por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equipe e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armazena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os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dados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nuvem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permitindo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que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coordenação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acompanhe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progresso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das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metas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de forma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estratégica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organizada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33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segura</a:t>
            </a:r>
            <a:r>
              <a:rPr lang="en-US" sz="33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330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30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24470" y="3976588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605363" y="10964675"/>
            <a:ext cx="11904300" cy="5172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   A </a:t>
            </a: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implementação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deste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sistema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visa </a:t>
            </a: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elevar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o patamar de </a:t>
            </a: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eficiência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das </a:t>
            </a: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campanhas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sociais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transformando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triagem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uma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pt-BR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operação baseada em dados reais e maior confiabilidade.</a:t>
            </a:r>
            <a:endParaRPr sz="343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Open Sans"/>
              <a:buChar char="●"/>
            </a:pP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Agilidade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Precisão</a:t>
            </a:r>
            <a:endParaRPr sz="343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Open Sans"/>
              <a:buChar char="●"/>
            </a:pP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Gestão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Tempo Real</a:t>
            </a:r>
            <a:endParaRPr sz="343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Open Sans"/>
              <a:buChar char="●"/>
            </a:pP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Transparência</a:t>
            </a:r>
            <a:endParaRPr sz="343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5731427" y="24906285"/>
            <a:ext cx="11652000" cy="48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33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  A automação, em princípio, não só libera a equipe de tarefas repetitivas, como também se estabelece como uma ferramenta gerencial robusta para a coordenação. Além de solucionar os atuais gargalos, a lógica implementada demonstra grande potencial de adaptação a outros cenários, abrangendo desde o controle de estoque até a logística de grandes centros de doações.</a:t>
            </a:r>
            <a:endParaRPr sz="333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"/>
          <p:cNvSpPr txBox="1"/>
          <p:nvPr/>
        </p:nvSpPr>
        <p:spPr>
          <a:xfrm flipH="1">
            <a:off x="-792825" y="7221650"/>
            <a:ext cx="30341700" cy="1197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00"/>
              <a:buFont typeface="Arial"/>
              <a:buNone/>
            </a:pPr>
            <a:r>
              <a:rPr lang="en-US" sz="4700" b="1" i="0" u="none" strike="noStrike" cap="none" dirty="0" err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Orientadores</a:t>
            </a:r>
            <a:r>
              <a:rPr lang="en-US" sz="4700" b="1" i="0" u="none" strike="noStrike" cap="none" dirty="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4700" b="0" i="0" u="none" strike="noStrike" cap="none" dirty="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Marcos Minoru, Rafael Rossetti, Rodrigo da Rosa, Rodnil Lisbôa, Victor Quiroz</a:t>
            </a:r>
            <a:endParaRPr sz="4700" b="0" i="0" u="none" strike="noStrike" cap="none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40" name="Google Shape;140;p1" title="IMG-20260501-WA0008.jpg"/>
          <p:cNvPicPr preferRelativeResize="0"/>
          <p:nvPr/>
        </p:nvPicPr>
        <p:blipFill rotWithShape="1">
          <a:blip r:embed="rId9">
            <a:alphaModFix/>
          </a:blip>
          <a:srcRect r="2220"/>
          <a:stretch/>
        </p:blipFill>
        <p:spPr>
          <a:xfrm>
            <a:off x="15863150" y="17815050"/>
            <a:ext cx="11652000" cy="5876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" title="Python-Emblem.png"/>
          <p:cNvPicPr preferRelativeResize="0"/>
          <p:nvPr/>
        </p:nvPicPr>
        <p:blipFill rotWithShape="1">
          <a:blip r:embed="rId10">
            <a:alphaModFix/>
          </a:blip>
          <a:srcRect l="18528" r="16461"/>
          <a:stretch/>
        </p:blipFill>
        <p:spPr>
          <a:xfrm>
            <a:off x="1093700" y="32229338"/>
            <a:ext cx="2334198" cy="201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"/>
          <p:cNvSpPr txBox="1"/>
          <p:nvPr/>
        </p:nvSpPr>
        <p:spPr>
          <a:xfrm>
            <a:off x="1909500" y="34417622"/>
            <a:ext cx="4686000" cy="9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IA &amp; Visão Computacional: </a:t>
            </a:r>
            <a:r>
              <a:rPr lang="en-US" sz="2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Python, YOLO e Label Studio </a:t>
            </a:r>
            <a:endParaRPr sz="2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3" name="Google Shape;143;p1"/>
          <p:cNvSpPr txBox="1"/>
          <p:nvPr/>
        </p:nvSpPr>
        <p:spPr>
          <a:xfrm>
            <a:off x="8441501" y="34486200"/>
            <a:ext cx="49899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Backend: </a:t>
            </a:r>
            <a:r>
              <a:rPr lang="en-US" sz="2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JavaScript (Node.js)</a:t>
            </a:r>
            <a:endParaRPr sz="2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4" name="Google Shape;144;p1"/>
          <p:cNvSpPr txBox="1"/>
          <p:nvPr/>
        </p:nvSpPr>
        <p:spPr>
          <a:xfrm>
            <a:off x="2457288" y="37992850"/>
            <a:ext cx="35904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Interface (UI): </a:t>
            </a:r>
            <a:r>
              <a:rPr lang="en-US" sz="2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React</a:t>
            </a:r>
            <a:endParaRPr sz="2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5" name="Google Shape;145;p1"/>
          <p:cNvSpPr txBox="1"/>
          <p:nvPr/>
        </p:nvSpPr>
        <p:spPr>
          <a:xfrm>
            <a:off x="8318801" y="37992850"/>
            <a:ext cx="52353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Nuvem:</a:t>
            </a:r>
            <a:r>
              <a:rPr lang="en-US" sz="2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AWS RDS (PostgreSQL) </a:t>
            </a:r>
            <a:endParaRPr sz="2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46" name="Google Shape;146;p1" title="amazon-rds-logo.png"/>
          <p:cNvPicPr preferRelativeResize="0"/>
          <p:nvPr/>
        </p:nvPicPr>
        <p:blipFill rotWithShape="1">
          <a:blip r:embed="rId11">
            <a:alphaModFix/>
          </a:blip>
          <a:srcRect l="17577" t="2621" r="13438" b="16486"/>
          <a:stretch/>
        </p:blipFill>
        <p:spPr>
          <a:xfrm>
            <a:off x="8196200" y="35386454"/>
            <a:ext cx="2453350" cy="2482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" title="PostgreSQL - Logo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0566603" y="35386450"/>
            <a:ext cx="2681569" cy="245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" title="Node.js_logo.svg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10679300" y="32540675"/>
            <a:ext cx="2988736" cy="1830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" title="javascript-logo.png"/>
          <p:cNvPicPr preferRelativeResize="0"/>
          <p:nvPr/>
        </p:nvPicPr>
        <p:blipFill rotWithShape="1">
          <a:blip r:embed="rId14">
            <a:alphaModFix/>
          </a:blip>
          <a:srcRect l="14270" t="17600" r="14484" b="11347"/>
          <a:stretch/>
        </p:blipFill>
        <p:spPr>
          <a:xfrm>
            <a:off x="8410201" y="32229350"/>
            <a:ext cx="2269099" cy="226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" title="Ultralytics (YOLO) - Logo.png"/>
          <p:cNvPicPr preferRelativeResize="0"/>
          <p:nvPr/>
        </p:nvPicPr>
        <p:blipFill rotWithShape="1">
          <a:blip r:embed="rId15">
            <a:alphaModFix/>
          </a:blip>
          <a:srcRect l="33939" t="19713" r="31965" b="13934"/>
          <a:stretch/>
        </p:blipFill>
        <p:spPr>
          <a:xfrm>
            <a:off x="3427900" y="32190138"/>
            <a:ext cx="2053476" cy="2098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" title="LabelStudio - Logo.png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5304948" y="32164357"/>
            <a:ext cx="2334200" cy="2077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" title="Logo - React.png"/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3025822" y="35462900"/>
            <a:ext cx="2453350" cy="2453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580</Words>
  <Application>Microsoft Office PowerPoint</Application>
  <PresentationFormat>Personalizar</PresentationFormat>
  <Paragraphs>31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Arial</vt:lpstr>
      <vt:lpstr>Inter</vt:lpstr>
      <vt:lpstr>Calibri</vt:lpstr>
      <vt:lpstr>Open Sans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Stephany Aliyah</cp:lastModifiedBy>
  <cp:revision>2</cp:revision>
  <dcterms:created xsi:type="dcterms:W3CDTF">2006-08-16T00:00:00Z</dcterms:created>
  <dcterms:modified xsi:type="dcterms:W3CDTF">2026-05-03T21:25:38Z</dcterms:modified>
</cp:coreProperties>
</file>