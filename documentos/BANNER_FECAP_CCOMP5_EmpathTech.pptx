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UXRrA8cUgY2OGr9zJpsq4QXob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hyperlink" Target="https://brasil.un.org/" TargetMode="External"/><Relationship Id="rId13" Type="http://schemas.openxmlformats.org/officeDocument/2006/relationships/image" Target="../media/image8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hyperlink" Target="https://brasil.un.org/" TargetMode="External"/><Relationship Id="rId15" Type="http://schemas.openxmlformats.org/officeDocument/2006/relationships/image" Target="../media/image4.png"/><Relationship Id="rId14" Type="http://schemas.openxmlformats.org/officeDocument/2006/relationships/image" Target="../media/image11.png"/><Relationship Id="rId17" Type="http://schemas.openxmlformats.org/officeDocument/2006/relationships/image" Target="../media/image3.png"/><Relationship Id="rId16" Type="http://schemas.openxmlformats.org/officeDocument/2006/relationships/image" Target="../media/image5.png"/><Relationship Id="rId5" Type="http://schemas.openxmlformats.org/officeDocument/2006/relationships/image" Target="../media/image9.png"/><Relationship Id="rId19" Type="http://schemas.openxmlformats.org/officeDocument/2006/relationships/image" Target="../media/image10.png"/><Relationship Id="rId6" Type="http://schemas.openxmlformats.org/officeDocument/2006/relationships/image" Target="../media/image12.png"/><Relationship Id="rId18" Type="http://schemas.openxmlformats.org/officeDocument/2006/relationships/image" Target="../media/image7.png"/><Relationship Id="rId7" Type="http://schemas.openxmlformats.org/officeDocument/2006/relationships/hyperlink" Target="https://liderancasempaticas.com/?utm_source=chatgpt.com" TargetMode="External"/><Relationship Id="rId8" Type="http://schemas.openxmlformats.org/officeDocument/2006/relationships/hyperlink" Target="https://liderancasempaticas.com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47183" y="36357085"/>
            <a:ext cx="29324884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50775" y="34913745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47183" y="28884414"/>
            <a:ext cx="29303969" cy="9759750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47182" y="21094341"/>
            <a:ext cx="29324751" cy="9460534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47183" y="15645423"/>
            <a:ext cx="29303962" cy="8372957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47182" y="690019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47182" y="-489831"/>
            <a:ext cx="29324728" cy="9050023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71932" y="13268505"/>
            <a:ext cx="20464108" cy="13034121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14718" y="30095267"/>
            <a:ext cx="13848535" cy="9234977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390844" y="30222580"/>
            <a:ext cx="12527629" cy="812605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82" y="72290"/>
              <a:ext cx="66357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29005" y="1609403"/>
            <a:ext cx="8568160" cy="2453356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50775" y="-4913410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01844" y="1796067"/>
            <a:ext cx="7225835" cy="2334237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19596" y="12183927"/>
            <a:ext cx="49899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82139" y="7561222"/>
            <a:ext cx="10206808" cy="14355435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03541" y="17889433"/>
            <a:ext cx="9964000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14789" y="36885489"/>
            <a:ext cx="5607114" cy="564029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8361" y="4387542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EmpathTech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406213" y="6472450"/>
            <a:ext cx="29304000" cy="1034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Carlos Roberto, Felipe Santos Ojo, Felipe Wakasa, Stephany Aliyah</a:t>
            </a:r>
            <a:endParaRPr b="0" i="0" sz="4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657950" y="17080300"/>
            <a:ext cx="118101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Figura 01: Interface do Painel Administrativo com Métricas de Arrecadação 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5346393" y="24574242"/>
            <a:ext cx="1243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(2026) 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631860" y="30831642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6595893" y="9848720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631841" y="9942145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745792" y="20386889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581300" y="31588175"/>
            <a:ext cx="12215700" cy="6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LIDERANÇAS EMPÁTICAS.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 Institucional e impacto social. [S. l.], 2026. Disponível em:</a:t>
            </a:r>
            <a:r>
              <a:rPr b="0" i="0" lang="en-US" sz="2400" u="none" cap="none" strike="noStrike">
                <a:solidFill>
                  <a:srgbClr val="1F1F1F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400" u="sng" cap="none" strike="noStrike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https://liderancasempaticas.com/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. Acesso em: 3 maio 2026.</a:t>
            </a:r>
            <a:endParaRPr b="0" i="0" sz="2400" u="none" cap="none" strike="noStrike">
              <a:solidFill>
                <a:srgbClr val="1F1F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REDMON, J. et al.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 You only look once: unified, real-time object detection. In: </a:t>
            </a:r>
            <a:r>
              <a:rPr b="1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IEEE Conference on Computer Vision and Pattern Recognition (CVPR)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, 2016, Las Vegas. </a:t>
            </a:r>
            <a:r>
              <a:rPr b="0" i="1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Anais [...]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. Las Vegas: IEEE, 2016. p. 779-788. DOI: 10.1109/CVPR.2016.91.</a:t>
            </a:r>
            <a:endParaRPr b="0" i="0" sz="2400" u="none" cap="none" strike="noStrike">
              <a:solidFill>
                <a:srgbClr val="1F1F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GOODFELLOW, I.; BENGIO, Y.; COURVILLE, A.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1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Deep learning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. Cambridge: MIT Press, 2016.</a:t>
            </a:r>
            <a:endParaRPr b="0" i="0" sz="2400" u="none" cap="none" strike="noStrike">
              <a:solidFill>
                <a:srgbClr val="1F1F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COSTA, A. B. (org.).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1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Tecnologia social e políticas públicas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. São Paulo: Instituto Pólis; Brasília: Fundação Banco do Brasil, 2013.</a:t>
            </a:r>
            <a:endParaRPr b="0" i="0" sz="2400" u="none" cap="none" strike="noStrike">
              <a:solidFill>
                <a:srgbClr val="1F1F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ONU BRASIL.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 Objetivo de Desenvolvimento Sustentável 2: fome zero e agricultura sustentável. Brasília: ONU Brasil, 2023. Disponível em:</a:t>
            </a:r>
            <a:r>
              <a:rPr b="0" i="0" lang="en-US" sz="2400" u="none" cap="none" strike="noStrike">
                <a:solidFill>
                  <a:srgbClr val="1F1F1F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400" u="sng" cap="none" strike="noStrike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https://brasil.un.org/</a:t>
            </a:r>
            <a:r>
              <a:rPr b="0" i="0" lang="en-US" sz="2400" u="none" cap="none" strike="noStrike">
                <a:solidFill>
                  <a:srgbClr val="1F1F1F"/>
                </a:solidFill>
                <a:latin typeface="Open Sans"/>
                <a:ea typeface="Open Sans"/>
                <a:cs typeface="Open Sans"/>
                <a:sym typeface="Open Sans"/>
              </a:rPr>
              <a:t>. Acesso em: 3 maio 2026.</a:t>
            </a:r>
            <a:endParaRPr b="0" i="0" sz="2400" u="none" cap="none" strike="noStrike">
              <a:solidFill>
                <a:srgbClr val="1F1F1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382800" y="10833225"/>
            <a:ext cx="12763500" cy="9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O projeto EmpathTech </a:t>
            </a:r>
            <a:r>
              <a:rPr b="0" i="0" lang="en-US" sz="3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visa </a:t>
            </a:r>
            <a:r>
              <a:rPr b="0" i="0" lang="en-US" sz="3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otimizar as arrecadações da instituição Lideranças Empáticas, onde a triagem manual gera erros de contagem, lentidão logística e dados pouco confiáveis. Esse cenário prejudica a gestão das equipes e impossibilita o acompanhamento do impacto social em tempo real durante o evento.</a:t>
            </a:r>
            <a:endParaRPr b="0" i="0" sz="3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A falta de processos automatizados compromete a integridade das informações e a transparência do inventário arrecadado. Além disso, o potencial dos voluntários é subutilizado em tarefas manuais repetitivas, dificultando o foco no desenvolvimento de liderança e nas estratégias sociais do projeto. </a:t>
            </a:r>
            <a:endParaRPr b="0" i="0" sz="3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307200" y="21273925"/>
            <a:ext cx="13214700" cy="9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300">
                <a:latin typeface="Open Sans"/>
                <a:ea typeface="Open Sans"/>
                <a:cs typeface="Open Sans"/>
                <a:sym typeface="Open Sans"/>
              </a:rPr>
              <a:t>        A solução desenvolvida pela EmpathTech integra software para automatizar a recepção de donativos por meio de uma rampa de triagem equipada com câmera. O sistema captura o fluxo de entrada e utiliza algoritmos de detecção para classificar os alimentos em categorias (como arroz e feijão) em tempo real, aplicando uma lógica de rastreamento que evita a duplicidade na contagem. </a:t>
            </a:r>
            <a:endParaRPr sz="3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3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Simultaneamente, o software registra métricas detalhadas por equipe e armazena os dados em nuvem, permitindo que a coordenação acompanhe o progresso das metas de forma estratégica, organizada e segura.</a:t>
            </a:r>
            <a:endParaRPr b="0" i="0" sz="3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24470" y="3976588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610850" y="10643575"/>
            <a:ext cx="11904300" cy="6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latin typeface="Open Sans"/>
                <a:ea typeface="Open Sans"/>
                <a:cs typeface="Open Sans"/>
                <a:sym typeface="Open Sans"/>
              </a:rPr>
              <a:t>    A automação substitui a triagem manual por indicadores auditáveis, garantindo a integridade dos dados arrecadados. A redução de tarefas repetitivas permite o foco dos voluntários no desenvolvimento de liderança e estratégias sociais.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Contagem</a:t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Dados</a:t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b="1"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Versatilidade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737000" y="25429675"/>
            <a:ext cx="116520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    O projeto integra o processamento automatizado à tomada de decisão estratégica, oferecendo transparência e controle sobre o volume de arrecadação. A lógica de rastreamento implementada é versátil, possuindo potencial imediato para otimizar o controle de estoque e a logística de centros de doações.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"/>
          <p:cNvSpPr txBox="1"/>
          <p:nvPr/>
        </p:nvSpPr>
        <p:spPr>
          <a:xfrm flipH="1">
            <a:off x="-792825" y="7221650"/>
            <a:ext cx="30341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n-US" sz="4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en-US" sz="4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Marcos Minoru, Rafael Rossetti, Rodrigo da Rosa, Rodnil Lisbôa, Victor </a:t>
            </a:r>
            <a:r>
              <a:rPr lang="en-US" sz="4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Rosetti</a:t>
            </a:r>
            <a:endParaRPr b="0" i="0" sz="4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1" title="EmpathTech - Gráficos.png"/>
          <p:cNvPicPr preferRelativeResize="0"/>
          <p:nvPr/>
        </p:nvPicPr>
        <p:blipFill rotWithShape="1">
          <a:blip r:embed="rId11">
            <a:alphaModFix/>
          </a:blip>
          <a:srcRect b="0" l="990" r="990" t="0"/>
          <a:stretch/>
        </p:blipFill>
        <p:spPr>
          <a:xfrm>
            <a:off x="15610850" y="18351404"/>
            <a:ext cx="11904301" cy="6003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Python-Emblem.png"/>
          <p:cNvPicPr preferRelativeResize="0"/>
          <p:nvPr/>
        </p:nvPicPr>
        <p:blipFill rotWithShape="1">
          <a:blip r:embed="rId12">
            <a:alphaModFix/>
          </a:blip>
          <a:srcRect b="0" l="18528" r="16461" t="0"/>
          <a:stretch/>
        </p:blipFill>
        <p:spPr>
          <a:xfrm>
            <a:off x="1093700" y="32229338"/>
            <a:ext cx="2334198" cy="201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"/>
          <p:cNvSpPr txBox="1"/>
          <p:nvPr/>
        </p:nvSpPr>
        <p:spPr>
          <a:xfrm>
            <a:off x="1909500" y="34417622"/>
            <a:ext cx="46860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IA &amp; Visão Computacional: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Python, YOLO e Label Studio </a:t>
            </a:r>
            <a:endParaRPr b="0" i="0" sz="2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8441501" y="34486200"/>
            <a:ext cx="498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Backend: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JavaScript (Node.js)</a:t>
            </a:r>
            <a:endParaRPr b="0" i="0" sz="2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2457288" y="37992850"/>
            <a:ext cx="35904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Interface (UI):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React</a:t>
            </a:r>
            <a:endParaRPr b="0" i="0" sz="2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1"/>
          <p:cNvSpPr txBox="1"/>
          <p:nvPr/>
        </p:nvSpPr>
        <p:spPr>
          <a:xfrm>
            <a:off x="8318801" y="37992850"/>
            <a:ext cx="523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Nuvem:</a:t>
            </a:r>
            <a:r>
              <a:rPr b="0" i="0" lang="en-US" sz="2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AWS RDS (PostgreSQL) </a:t>
            </a:r>
            <a:endParaRPr b="0" i="0" sz="2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6" name="Google Shape;146;p1" title="amazon-rds-logo.png"/>
          <p:cNvPicPr preferRelativeResize="0"/>
          <p:nvPr/>
        </p:nvPicPr>
        <p:blipFill rotWithShape="1">
          <a:blip r:embed="rId13">
            <a:alphaModFix/>
          </a:blip>
          <a:srcRect b="16486" l="17577" r="13438" t="2621"/>
          <a:stretch/>
        </p:blipFill>
        <p:spPr>
          <a:xfrm>
            <a:off x="8196200" y="35386454"/>
            <a:ext cx="2453350" cy="248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" title="PostgreSQL - Logo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66603" y="35386450"/>
            <a:ext cx="2681569" cy="24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" title="Node.js_logo.svg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679300" y="32540675"/>
            <a:ext cx="2988736" cy="183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" title="javascript-logo.png"/>
          <p:cNvPicPr preferRelativeResize="0"/>
          <p:nvPr/>
        </p:nvPicPr>
        <p:blipFill rotWithShape="1">
          <a:blip r:embed="rId16">
            <a:alphaModFix/>
          </a:blip>
          <a:srcRect b="11347" l="14270" r="14484" t="17600"/>
          <a:stretch/>
        </p:blipFill>
        <p:spPr>
          <a:xfrm>
            <a:off x="8410201" y="32229350"/>
            <a:ext cx="2269099" cy="22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" title="Ultralytics (YOLO) - Logo.png"/>
          <p:cNvPicPr preferRelativeResize="0"/>
          <p:nvPr/>
        </p:nvPicPr>
        <p:blipFill rotWithShape="1">
          <a:blip r:embed="rId17">
            <a:alphaModFix/>
          </a:blip>
          <a:srcRect b="13934" l="33939" r="31965" t="19713"/>
          <a:stretch/>
        </p:blipFill>
        <p:spPr>
          <a:xfrm>
            <a:off x="3427900" y="32190138"/>
            <a:ext cx="2053476" cy="209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" title="LabelStudio - Logo.png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304948" y="32164357"/>
            <a:ext cx="2334200" cy="207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" title="Logo - React.png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25822" y="35462900"/>
            <a:ext cx="2453350" cy="24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